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EXECUTIVE PITCH • IQOO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4747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SNAPDRAGON NPU (45 TOPS) • QUALCOMM GENIEX SDK • RTX GPU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Agentic Architect — Voice-to-Repository Autonomous Multi-Agent Priming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55080"/>
            <a:ext cx="2590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6B6D4"/>
                </a:solidFill>
                <a:latin typeface="Arial"/>
              </a:defRPr>
            </a:pPr>
            <a:r>
              <a:t>Slide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UNIVERSAL ON-DEVICE DEVELOPER SCAFFOLDING &amp; AI PRIMING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Agentic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9E0B"/>
                </a:solidFill>
                <a:latin typeface="Arial"/>
              </a:defRPr>
            </a:pPr>
            <a:r>
              <a:t>Spoken Ideas on iQOO Smartphone  ➔  AI-Primed Repository on Laptop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Turns fleeting developer voice commands into deterministic, production-grade repositories with universal multi-agent context manifests (AGENTS.md, .cursorrules, CLAUDE.md), RFC 7807 contracts, and zero-click desktop IDE orchestration.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47472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1. Mobile Layer (iQOO)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Native Jetpack Compose &amp; SpeechRecognizer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Qualcomm GenieX SDK (Snapdragon Hexagon 45 TOPS)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INT4 Quantized Qwen 2.5-Coder / Phi-4-Mini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100% Offline • Zero Cloud Latency or Token Fees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8030" y="3931920"/>
            <a:ext cx="34747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58030" y="3931920"/>
            <a:ext cx="347472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0910" y="4069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2. Core Manifest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091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Strict Zod Validation &amp; RFC 7807 Schema Rules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Universal Manifests: AGENTS.md, .cursorrules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Domain Skills: API Contracts, UI Tokens &amp; Testing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In-Memory /sdcard/iQOO_Share/bundle.zip 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5455" y="3931920"/>
            <a:ext cx="34747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85455" y="393192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8335" y="4069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3. Green Light Handoff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8335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iQOO Office Kit P2P sync / USB ADB reverse tunnel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One-click bootstrap.sh / bootstrap.ps1 auto-unpack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Automated npm install dependency hydration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Auto-boots Cursor IDE primed for Cline / Aider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PROBLEM &amp; ARCHITECTURAL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4747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SNAPDRAGON NPU (45 TOPS) • QUALCOMM GENIEX SDK • RTX GPU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Agentic Architect — Voice-to-Repository Autonomous Multi-Agent Priming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55080"/>
            <a:ext cx="2590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6B6D4"/>
                </a:solidFill>
                <a:latin typeface="Arial"/>
              </a:defRPr>
            </a:pPr>
            <a:r>
              <a:t>Slide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"Red Light" Scenario &amp; The Disconnected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How to capture sudden technical breakthroughs when away from your keyboard without cloud fragility.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828800"/>
            <a:ext cx="521208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Status Quo: Friction &amp; Cloud Fragility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CA5A5"/>
                </a:solidFill>
                <a:latin typeface="Arial"/>
              </a:defRPr>
            </a:pPr>
            <a:r>
              <a:t>❌ Inspiration Lost in Transit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Developers get architecture ideas during commutes, red lights, or walking. By the time they reach a laptop, mental context is lost.</a:t>
            </a:r>
          </a:p>
          <a:p>
            <a:pPr>
              <a:spcBef>
                <a:spcPts val="800"/>
              </a:spcBef>
              <a:defRPr sz="1100" b="1">
                <a:solidFill>
                  <a:srgbClr val="FCA5A5"/>
                </a:solidFill>
                <a:latin typeface="Arial"/>
              </a:defRPr>
            </a:pPr>
            <a:r>
              <a:t>❌ Cloud LLM Latency &amp; Cost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External cloud APIs (OpenAI, Claude) require continuous 5G connection, suffer round-trip lag (2-4s), and charge per token.</a:t>
            </a:r>
          </a:p>
          <a:p>
            <a:pPr>
              <a:spcBef>
                <a:spcPts val="800"/>
              </a:spcBef>
              <a:defRPr sz="1100" b="1">
                <a:solidFill>
                  <a:srgbClr val="FCA5A5"/>
                </a:solidFill>
                <a:latin typeface="Arial"/>
              </a:defRPr>
            </a:pPr>
            <a:r>
              <a:t>❌ Security &amp; IP Leak Risk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Sending internal proprietary schemas and architectural requirements over public APIs introduces severe compliance risk.</a:t>
            </a:r>
          </a:p>
          <a:p>
            <a:pPr>
              <a:spcBef>
                <a:spcPts val="800"/>
              </a:spcBef>
              <a:defRPr sz="1100" b="1">
                <a:solidFill>
                  <a:srgbClr val="FCA5A5"/>
                </a:solidFill>
                <a:latin typeface="Arial"/>
              </a:defRPr>
            </a:pPr>
            <a:r>
              <a:t>❌ Cold Repository Start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Manually setting up directory trees, TypeScript configs, ESLint rules, and agent instructions takes 30-45 minutes per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1828800"/>
            <a:ext cx="521208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095" y="182880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0975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Agentic Architect Solution: 100% Offline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975" y="228600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6EE7B7"/>
                </a:solidFill>
                <a:latin typeface="Arial"/>
              </a:defRPr>
            </a:pPr>
            <a:r>
              <a:t>✅ Hands-Free Voice Ingestion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Speak natural-language requirements directly into your iQOO phone: "Build a liquidity pool monitor in Kotlin with reactive streams".</a:t>
            </a:r>
          </a:p>
          <a:p>
            <a:pPr>
              <a:spcBef>
                <a:spcPts val="800"/>
              </a:spcBef>
              <a:defRPr sz="1100" b="1">
                <a:solidFill>
                  <a:srgbClr val="6EE7B7"/>
                </a:solidFill>
                <a:latin typeface="Arial"/>
              </a:defRPr>
            </a:pPr>
            <a:r>
              <a:t>✅ Snapdragon Hexagon NPU Acceleration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Runs quantized Qwen 2.5-Coder / Phi-4-Mini in ~160ms on-device via Qualcomm GenieX SDK with 0 cloud calls.</a:t>
            </a:r>
          </a:p>
          <a:p>
            <a:pPr>
              <a:spcBef>
                <a:spcPts val="800"/>
              </a:spcBef>
              <a:defRPr sz="1100" b="1">
                <a:solidFill>
                  <a:srgbClr val="6EE7B7"/>
                </a:solidFill>
                <a:latin typeface="Arial"/>
              </a:defRPr>
            </a:pPr>
            <a:r>
              <a:t>✅ Strict Grammar-Constrained Decoding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Constrains model output directly into verified JSON adhering to strict Zod and RFC 7807 schemas.</a:t>
            </a:r>
          </a:p>
          <a:p>
            <a:pPr>
              <a:spcBef>
                <a:spcPts val="800"/>
              </a:spcBef>
              <a:defRPr sz="1100" b="1">
                <a:solidFill>
                  <a:srgbClr val="6EE7B7"/>
                </a:solidFill>
                <a:latin typeface="Arial"/>
              </a:defRPr>
            </a:pPr>
            <a:r>
              <a:t>✅ Instant 'Green Light' Handoff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Arrive at desk: iQOO Office Kit or USB tunnel syncs bundle.zip. Laptop boots IDE primed with all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MOBILE HARDWARE &amp; ACCELERATION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4747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SNAPDRAGON NPU (45 TOPS) • QUALCOMM GENIEX SDK • RTX GPU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Agentic Architect — Voice-to-Repository Autonomous Multi-Agent Priming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55080"/>
            <a:ext cx="2590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6B6D4"/>
                </a:solidFill>
                <a:latin typeface="Arial"/>
              </a:defRPr>
            </a:pPr>
            <a:r>
              <a:t>Slide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Snapdragon NPU Acceleration &amp; Qualcomm GenieX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On-device INT4 quantized execution delivers desktop-class code reasoning with zero cloud egress.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2542032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20240"/>
            <a:ext cx="226771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Arial"/>
              </a:defRPr>
            </a:pPr>
            <a:r>
              <a:t>45 TOPS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NPU Peak Compute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Qualcomm Hexagon NPU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828800"/>
            <a:ext cx="2542032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920240"/>
            <a:ext cx="226771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168 ms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Inference Latency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Sub-second on-device turn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828800"/>
            <a:ext cx="2542032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920240"/>
            <a:ext cx="226771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1.85 GB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Memory Footprint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INT4 Quantized weights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1828800"/>
            <a:ext cx="2542032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1920240"/>
            <a:ext cx="226771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  <a:latin typeface="Arial"/>
              </a:defRPr>
            </a:pPr>
            <a:r>
              <a:t>58.2 tok/s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Generation Throughput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Instant grammar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63240"/>
            <a:ext cx="521208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21208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Qualcomm GenieX SDK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204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Graph Quantization (INT4 / INT8)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Compiled with Qualcomm AI Model Efficiency Toolkit (AIMET), preserving code structure and syntax accuracy.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Hexagon Direct Tensor Offload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Bypasses CPU/GPU thermal limits for sustained, energy-efficient generation without thermal throttling.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Grammar-Guided Constrained Decoding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Regex/EBNF constraints guarantee model tokens strictly parse into valid ProjectConfig JSON data classes.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Dual Model Strategy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Primary: Qwen 2.5-Coder 7B INT4 (complex architectures); Secondary: Phi-4-Mini 3.8B (ultra-low power mode).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095" y="3063240"/>
            <a:ext cx="521208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48095" y="3063240"/>
            <a:ext cx="52120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0975" y="3200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Zero-Hallucination JSON 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0975" y="35204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Zod Schema Invariant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Enforces runtime, architecture, install/dev/test commands, and required dependencies at parse time.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Polyglot Stack Detection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Automatically identifies frameworks (FastAPI, Next.js, Go Gin, Spring Boot, Vue, Tailwind CSS).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Safe Boundary Pre-Configuration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Embeds zero-secret rules, lockfile integrity, and non-destructive Git constraints into project rules.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Offline Kotlin Zip Streamer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Packages manifest files directly to /sdcard/iQOO_Share/bundle.zip with zero network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LOCAL AI BRIDGE &amp; IDE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4747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SNAPDRAGON NPU (45 TOPS) • QUALCOMM GENIEX SDK • RTX GPU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Agentic Architect — Voice-to-Repository Autonomous Multi-Agent Priming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55080"/>
            <a:ext cx="2590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6B6D4"/>
                </a:solidFill>
                <a:latin typeface="Arial"/>
              </a:defRPr>
            </a:pPr>
            <a:r>
              <a:t>Slide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Laptop AI Bridge &amp; Dual IDE Injection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High-speed FastAPI bridge (Port 8000) linking Android voice prompts to laptop RTX GPU &amp; Cursor 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347472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828800"/>
            <a:ext cx="347472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1. FastAPI Local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Port 8000 Server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Lightweight Python FastAPI daemon listening on 0.0.0.0:8000 with CORS.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Local IP Auto-Discovery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Automatically detects and prints Wi-Fi/LAN IPv4 addresses on startup.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Zero-Config USB Tunnel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Supports 'adb reverse tcp:8000 tcp:8000' for zero-network USB connection.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Cleartext Security Config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Configured via Android network_security_config.xml for instant local dev.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030" y="1828800"/>
            <a:ext cx="347472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8030" y="1828800"/>
            <a:ext cx="347472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091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2. Method A: File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0910" y="228600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Ollama RTX GPU Inference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Forwards prompt to local Ollama (localhost:11434) running Qwen 2.5-Coder.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Code Block Extraction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Parses fenced markdown code (```kotlin, ```python, ```ts) automatically.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Filename Inference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Infers clean PascalCase/snake_case filenames from prompt intent.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Direct Workspace Writing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Writes files directly into ./injected_agents/ in the active IDE workspace.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5455" y="1828800"/>
            <a:ext cx="347472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85455" y="182880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8335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3. Method B: Cursor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8335" y="228600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Autonomous CLI Execution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Invokes 'agent -p "&lt;prompt&gt;"' via Python subprocess inside target repo.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Active Context Scaffolding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Cursor's native agent inspects project tree and implements requested features.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Clean If/Else Toggle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Toggled via USE_CURSOR_AGENT boolean or per-request 'use_cursor_agent: true'.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Fail-Safe Diagnostics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Returns execution logs and exit codes without server downtime.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CORE GENERATION &amp; DESKTOP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4747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SNAPDRAGON NPU (45 TOPS) • QUALCOMM GENIEX SDK • RTX GPU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Agentic Architect — Voice-to-Repository Autonomous Multi-Agent Priming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55080"/>
            <a:ext cx="2590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6B6D4"/>
                </a:solidFill>
                <a:latin typeface="Arial"/>
              </a:defRPr>
            </a:pPr>
            <a:r>
              <a:t>Slide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Multi-Agent Manifest Pyramid &amp; IDE Priming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universal context layer ensuring all AI developer assistants adopt deterministic project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640080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828800"/>
            <a:ext cx="640080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Multi-Agent Manifest Pyramid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6035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6B6D4"/>
                </a:solidFill>
                <a:latin typeface="Arial"/>
              </a:defRPr>
            </a:pPr>
            <a:r>
              <a:t>AGENTS.md  [Cline, Roo Code, Aider]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Root commands (npm test, dev), safety boundaries, git rules</a:t>
            </a:r>
          </a:p>
          <a:p>
            <a:pPr>
              <a:spcBef>
                <a:spcPts val="500"/>
              </a:spcBef>
              <a:defRPr sz="1050" b="1">
                <a:solidFill>
                  <a:srgbClr val="06B6D4"/>
                </a:solidFill>
                <a:latin typeface="Arial"/>
              </a:defRPr>
            </a:pPr>
            <a:r>
              <a:t>.cursorrules  [Cursor IDE Composer]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Tech stack, typing standards, UI tokens, anti-patterns</a:t>
            </a:r>
          </a:p>
          <a:p>
            <a:pPr>
              <a:spcBef>
                <a:spcPts val="500"/>
              </a:spcBef>
              <a:defRPr sz="1050" b="1">
                <a:solidFill>
                  <a:srgbClr val="06B6D4"/>
                </a:solidFill>
                <a:latin typeface="Arial"/>
              </a:defRPr>
            </a:pPr>
            <a:r>
              <a:t>CLAUDE.md  [Claude Code CLI]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Session initialization, build commands, test workflows</a:t>
            </a:r>
          </a:p>
          <a:p>
            <a:pPr>
              <a:spcBef>
                <a:spcPts val="500"/>
              </a:spcBef>
              <a:defRPr sz="1050" b="1">
                <a:solidFill>
                  <a:srgbClr val="06B6D4"/>
                </a:solidFill>
                <a:latin typeface="Arial"/>
              </a:defRPr>
            </a:pPr>
            <a:r>
              <a:t>GEMINI.md  [Google Antigravity]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Domain rules, RFC 7807 contracts, modular guidelines</a:t>
            </a:r>
          </a:p>
          <a:p>
            <a:pPr>
              <a:spcBef>
                <a:spcPts val="500"/>
              </a:spcBef>
              <a:defRPr sz="1050" b="1">
                <a:solidFill>
                  <a:srgbClr val="06B6D4"/>
                </a:solidFill>
                <a:latin typeface="Arial"/>
              </a:defRPr>
            </a:pPr>
            <a:r>
              <a:t>skills/api-contracts.md  [All Agents]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RFC 7807 problem details, unified success envelope schema</a:t>
            </a:r>
          </a:p>
          <a:p>
            <a:pPr>
              <a:spcBef>
                <a:spcPts val="500"/>
              </a:spcBef>
              <a:defRPr sz="1050" b="1">
                <a:solidFill>
                  <a:srgbClr val="06B6D4"/>
                </a:solidFill>
                <a:latin typeface="Arial"/>
              </a:defRPr>
            </a:pPr>
            <a:r>
              <a:t>skills/ui-component-system.md  [All Agents]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Tailwind CSS design tokens, accessibility (a11y), clean UI</a:t>
            </a:r>
          </a:p>
          <a:p>
            <a:pPr>
              <a:spcBef>
                <a:spcPts val="500"/>
              </a:spcBef>
              <a:defRPr sz="1050" b="1">
                <a:solidFill>
                  <a:srgbClr val="06B6D4"/>
                </a:solidFill>
                <a:latin typeface="Arial"/>
              </a:defRPr>
            </a:pPr>
            <a:r>
              <a:t>skills/testing-patterns.md  [All Agents]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Vitest &amp; pytest test conventions, isolation, mock standards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6815" y="1828800"/>
            <a:ext cx="402336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36815" y="1828800"/>
            <a:ext cx="40233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695" y="1965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Desktop Auto-Boot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695" y="2286000"/>
            <a:ext cx="3657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59E0B"/>
                </a:solidFill>
                <a:latin typeface="Arial"/>
              </a:defRPr>
            </a:pPr>
            <a:r>
              <a:t>Step 1: One-Click Unpack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bootstrap.sh / bootstrap.ps1 unpacks bundle.zip into ./scaffolded-workspace.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Arial"/>
              </a:defRPr>
            </a:pPr>
            <a:r>
              <a:t>Step 2: Auto Hydration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Automatically runs 'npm install' to hydrate dependencies with zero friction.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Arial"/>
              </a:defRPr>
            </a:pPr>
            <a:r>
              <a:t>Step 3: IDE Auto-Boot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Launches Cursor ('cursor .') or VS Code with all project windows arranged.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Arial"/>
              </a:defRPr>
            </a:pPr>
            <a:r>
              <a:t>Step 4: Instant Agent Priming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Composer and Cline immediately read .cursorrules and AGENTS.md—zero prompt priming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VERIFICATION &amp; HACKATHON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4747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SNAPDRAGON NPU (45 TOPS) • QUALCOMM GENIEX SDK • RTX GPU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3716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Agentic Architect — Voice-to-Repository Autonomous Multi-Agent Priming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55080"/>
            <a:ext cx="2590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6B6D4"/>
                </a:solidFill>
                <a:latin typeface="Arial"/>
              </a:defRPr>
            </a:pPr>
            <a:r>
              <a:t>Slide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Hardware Verification &amp; Hackathon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100% verified on physical smartphone hardware and laptop RTX GPU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621792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828800"/>
            <a:ext cx="621792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iQOO Hackathon Constraints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✅ 55% "Red Light" Focus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Hands-free natural-language audio prompt capture during commutes with zero laptop keyboard friction.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✅ Snapdragon NPU Acceleration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On-device INT4 quantized Qwen 2.5-Coder / Phi-4-Mini via Qualcomm GenieX SDK (45 TOPS); 100% offline.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✅ On-Device File Generation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Native Kotlin ZIP streamer compiles universal manifests directly to /sdcard/iQOO_Share/bundle.zip.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✅ "Green Light" Desktop Handoff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Routes bundle.zip to laptop; bootstrap script unpacks, hydrates packages, and auto-boots primed IDE.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✅ 17/17 Integration Tests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Automated Vitest test suite validating Zod parsing, API contracts, manifest generation, and ZIP integrity.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935" y="1828800"/>
            <a:ext cx="4206240" cy="4297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53935" y="1828800"/>
            <a:ext cx="42062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6815" y="19659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Physical Hardware Test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6815" y="2286000"/>
            <a:ext cx="38404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Mobile Client Device:</a:t>
            </a:r>
          </a:p>
          <a:p>
            <a:pPr>
              <a:defRPr sz="950">
                <a:solidFill>
                  <a:srgbClr val="06B6D4"/>
                </a:solidFill>
                <a:latin typeface="Arial"/>
              </a:defRPr>
            </a:pPr>
            <a:r>
              <a:t>POCO X6 5G (Android 14 / TargetSDK 36)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App Status:</a:t>
            </a:r>
          </a:p>
          <a:p>
            <a:pPr>
              <a:defRPr sz="950">
                <a:solidFill>
                  <a:srgbClr val="06B6D4"/>
                </a:solidFill>
                <a:latin typeface="Arial"/>
              </a:defRPr>
            </a:pPr>
            <a:r>
              <a:t>Installed &amp; Running via USB Debugging (PID: 11454)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Reverse Port Tunnel:</a:t>
            </a:r>
          </a:p>
          <a:p>
            <a:pPr>
              <a:defRPr sz="950">
                <a:solidFill>
                  <a:srgbClr val="06B6D4"/>
                </a:solidFill>
                <a:latin typeface="Arial"/>
              </a:defRPr>
            </a:pPr>
            <a:r>
              <a:t>adb reverse tcp:8000 tcp:8000 (Active)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Live Inference Latency:</a:t>
            </a:r>
          </a:p>
          <a:p>
            <a:pPr>
              <a:defRPr sz="950">
                <a:solidFill>
                  <a:srgbClr val="06B6D4"/>
                </a:solidFill>
                <a:latin typeface="Arial"/>
              </a:defRPr>
            </a:pPr>
            <a:r>
              <a:t>9,615 ms (Complete roundtrip phone ➔ GPU ➔ phone)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Ollama Engine:</a:t>
            </a:r>
          </a:p>
          <a:p>
            <a:pPr>
              <a:defRPr sz="950">
                <a:solidFill>
                  <a:srgbClr val="06B6D4"/>
                </a:solidFill>
                <a:latin typeface="Arial"/>
              </a:defRPr>
            </a:pPr>
            <a:r>
              <a:t>v0.35.1 running Qwen 2.5-Coder on RTX GPU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Direct File Injection:</a:t>
            </a:r>
          </a:p>
          <a:p>
            <a:pPr>
              <a:defRPr sz="950">
                <a:solidFill>
                  <a:srgbClr val="06B6D4"/>
                </a:solidFill>
                <a:latin typeface="Arial"/>
              </a:defRPr>
            </a:pPr>
            <a:r>
              <a:t>5,360 ms to generate AutomatedLiquidityPoolScanner.kt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